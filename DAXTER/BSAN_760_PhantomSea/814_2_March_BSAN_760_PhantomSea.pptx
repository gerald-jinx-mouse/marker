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22_8B7569F9.xml" ContentType="application/vnd.ms-powerpoint.comments+xml"/>
  <Override PartName="/ppt/comments/modernComment_12B_8F7F8FA5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27_F611DD78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124_44AFE2B5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21"/>
  </p:notesMasterIdLst>
  <p:sldIdLst>
    <p:sldId id="286" r:id="rId2"/>
    <p:sldId id="289" r:id="rId3"/>
    <p:sldId id="290" r:id="rId4"/>
    <p:sldId id="298" r:id="rId5"/>
    <p:sldId id="299" r:id="rId6"/>
    <p:sldId id="296" r:id="rId7"/>
    <p:sldId id="295" r:id="rId8"/>
    <p:sldId id="291" r:id="rId9"/>
    <p:sldId id="287" r:id="rId10"/>
    <p:sldId id="292" r:id="rId11"/>
    <p:sldId id="288" r:id="rId12"/>
    <p:sldId id="297" r:id="rId13"/>
    <p:sldId id="300" r:id="rId14"/>
    <p:sldId id="302" r:id="rId15"/>
    <p:sldId id="301" r:id="rId16"/>
    <p:sldId id="275" r:id="rId17"/>
    <p:sldId id="277" r:id="rId18"/>
    <p:sldId id="293" r:id="rId19"/>
    <p:sldId id="29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5753414-692A-F11C-F79D-42188830382B}" name="Gould, Trent" initials="GT" userId="S::t813g195@home.ku.edu::a234d61f-f592-410c-aea2-6a22f44262d9" providerId="AD"/>
  <p188:author id="{BA75CF19-AD43-60C8-656B-2EFE71527EA7}" name="Dove, Aidan" initials="DA" userId="S::a642d072@home.ku.edu::3f8b8e26-af8a-4e02-adc7-7a7fb703cb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A0D8C-6103-A559-2D62-6EC6CDC57870}" v="88" dt="2026-03-03T00:23:37.946"/>
    <p1510:client id="{79A6E942-F95E-7B15-7376-11F9D66DF4C8}" v="1075" dt="2026-03-02T23:58:47.673"/>
    <p1510:client id="{95ABC1B2-FC86-7234-522C-70346C245531}" v="997" dt="2026-03-03T00:48:45.745"/>
    <p1510:client id="{BAE05BC5-06CE-9E2C-AB5E-88FFC713EE9B}" v="9" dt="2026-03-03T00:14:39.407"/>
    <p1510:client id="{D58BE4CC-BC09-E942-960C-32A6E81E8372}" v="65" dt="2026-03-03T00:38:36.4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kansas-my.sharepoint.com/personal/j501k819_home_ku_edu/Documents/Microsoft%20Teams%20Chat%20Files/2_March_BSAN_760_PhantomSe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Market Share &amp; Profit Margin by US EV Manufacturer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'Competitor Analysis'!B1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'Competitor Analysis'!$A$2:$A$8</c:f>
              <c:strCache>
                <c:ptCount val="7"/>
                <c:pt idx="0">
                  <c:v>Tesla, Inc. </c:v>
                </c:pt>
                <c:pt idx="1">
                  <c:v>Toyota Motor Company </c:v>
                </c:pt>
                <c:pt idx="2">
                  <c:v>Ford Motor Co</c:v>
                </c:pt>
                <c:pt idx="3">
                  <c:v>Honda Motor Co Ltd</c:v>
                </c:pt>
                <c:pt idx="4">
                  <c:v>General Motors Company </c:v>
                </c:pt>
                <c:pt idx="5">
                  <c:v>Hyundai Motor Group</c:v>
                </c:pt>
                <c:pt idx="6">
                  <c:v>Rivian </c:v>
                </c:pt>
              </c:strCache>
            </c:strRef>
          </c:cat>
          <c:val>
            <c:numRef>
              <c:f>'Competitor Analysis'!$B$2:$B$8</c:f>
              <c:numCache>
                <c:formatCode>0.0%</c:formatCode>
                <c:ptCount val="7"/>
                <c:pt idx="0">
                  <c:v>0.248</c:v>
                </c:pt>
                <c:pt idx="1">
                  <c:v>0.159</c:v>
                </c:pt>
                <c:pt idx="2">
                  <c:v>0.14399999999999999</c:v>
                </c:pt>
                <c:pt idx="3">
                  <c:v>8.2000000000000003E-2</c:v>
                </c:pt>
                <c:pt idx="4">
                  <c:v>7.5999999999999998E-2</c:v>
                </c:pt>
                <c:pt idx="5">
                  <c:v>5.3999999999999999E-2</c:v>
                </c:pt>
                <c:pt idx="6">
                  <c:v>3.7999999999999999E-2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46-4737-AF42-968BAE87463A}"/>
            </c:ext>
          </c:extLst>
        </c:ser>
        <c:ser>
          <c:idx val="1"/>
          <c:order val="1"/>
          <c:tx>
            <c:strRef>
              <c:f>'Competitor Analysis'!C1</c:f>
              <c:strCache>
                <c:ptCount val="1"/>
                <c:pt idx="0">
                  <c:v>Profit Margin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'Competitor Analysis'!$A$2:$A$8</c:f>
              <c:strCache>
                <c:ptCount val="7"/>
                <c:pt idx="0">
                  <c:v>Tesla, Inc. </c:v>
                </c:pt>
                <c:pt idx="1">
                  <c:v>Toyota Motor Company </c:v>
                </c:pt>
                <c:pt idx="2">
                  <c:v>Ford Motor Co</c:v>
                </c:pt>
                <c:pt idx="3">
                  <c:v>Honda Motor Co Ltd</c:v>
                </c:pt>
                <c:pt idx="4">
                  <c:v>General Motors Company </c:v>
                </c:pt>
                <c:pt idx="5">
                  <c:v>Hyundai Motor Group</c:v>
                </c:pt>
                <c:pt idx="6">
                  <c:v>Rivian </c:v>
                </c:pt>
              </c:strCache>
            </c:strRef>
          </c:cat>
          <c:val>
            <c:numRef>
              <c:f>'Competitor Analysis'!$C$2:$C$8</c:f>
              <c:numCache>
                <c:formatCode>0.0%</c:formatCode>
                <c:ptCount val="7"/>
                <c:pt idx="0">
                  <c:v>4.2999999999999997E-2</c:v>
                </c:pt>
                <c:pt idx="1">
                  <c:v>7.6999999999999999E-2</c:v>
                </c:pt>
                <c:pt idx="2">
                  <c:v>1.2E-2</c:v>
                </c:pt>
                <c:pt idx="3">
                  <c:v>-5.0000000000000001E-3</c:v>
                </c:pt>
                <c:pt idx="4">
                  <c:v>2.1999999999999999E-2</c:v>
                </c:pt>
                <c:pt idx="5">
                  <c:v>7.9000000000000001E-2</c:v>
                </c:pt>
                <c:pt idx="6">
                  <c:v>-0.24199999999999999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46-4737-AF42-968BAE8746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3"/>
        <c:overlap val="100"/>
        <c:axId val="1886888455"/>
        <c:axId val="1886902279"/>
      </c:barChart>
      <c:catAx>
        <c:axId val="18868884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EV Manufacturer</a:t>
                </a:r>
              </a:p>
            </c:rich>
          </c:tx>
          <c:layout>
            <c:manualLayout>
              <c:xMode val="edge"/>
              <c:yMode val="edge"/>
              <c:x val="0.42038474528677339"/>
              <c:y val="0.859783348255640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902279"/>
        <c:crosses val="autoZero"/>
        <c:auto val="1"/>
        <c:lblAlgn val="ctr"/>
        <c:lblOffset val="100"/>
        <c:noMultiLvlLbl val="0"/>
      </c:catAx>
      <c:valAx>
        <c:axId val="1886902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888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2B_8F7F8F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84DE03E-85D9-485F-8D27-F2D30300FE18}" authorId="{15753414-692A-F11C-F79D-42188830382B}" created="2026-03-02T22:45:09.94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407501733" sldId="299"/>
      <ac:spMk id="3" creationId="{BC71C2C6-5574-8605-5A74-BBC93ECD6084}"/>
    </ac:deMkLst>
    <p188:replyLst>
      <p188:reply id="{F5F280D6-8332-405A-9094-DFA730CE3391}" authorId="{15753414-692A-F11C-F79D-42188830382B}" created="2026-03-02T22:46:17.761">
        <p188:txBody>
          <a:bodyPr/>
          <a:lstStyle/>
          <a:p>
            <a:r>
              <a:rPr lang="en-US"/>
              <a:t>5,100 participants</a:t>
            </a:r>
          </a:p>
        </p188:txBody>
      </p188:reply>
    </p188:replyLst>
    <p188:txBody>
      <a:bodyPr/>
      <a:lstStyle/>
      <a:p>
        <a:r>
          <a:rPr lang="en-US"/>
          <a:t>format cleaner like nice KPIs</a:t>
        </a:r>
      </a:p>
    </p188:txBody>
  </p188:cm>
</p188:cmLst>
</file>

<file path=ppt/comments/modernComment_122_8B7569F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232D1B-8D5E-452F-970F-548CFFB26FBC}" authorId="{15753414-692A-F11C-F79D-42188830382B}" created="2026-03-03T00:06:07.9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39727865" sldId="290"/>
      <ac:spMk id="2" creationId="{8AB5FB84-61F7-0F8E-0C9D-13CD7F3D26CB}"/>
    </ac:deMkLst>
    <p188:txBody>
      <a:bodyPr/>
      <a:lstStyle/>
      <a:p>
        <a:r>
          <a:rPr lang="en-US"/>
          <a:t>standardize headings</a:t>
        </a:r>
      </a:p>
    </p188:txBody>
  </p188:cm>
  <p188:cm id="{1D1AC327-5F1A-406D-A494-92C9A596EC4D}" authorId="{15753414-692A-F11C-F79D-42188830382B}" created="2026-03-03T00:32:40.225">
    <pc:sldMkLst xmlns:pc="http://schemas.microsoft.com/office/powerpoint/2013/main/command">
      <pc:docMk/>
      <pc:sldMk cId="2339727865" sldId="290"/>
    </pc:sldMkLst>
    <p188:txBody>
      <a:bodyPr/>
      <a:lstStyle/>
      <a:p>
        <a:r>
          <a:rPr lang="en-US"/>
          <a:t>split across 3 slides? lot of information on this slide (and others)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3-03T00:38:36.473" authorId="{BA75CF19-AD43-60C8-656B-2EFE71527EA7}"/>
          </p223:rxn>
        </p223:reactions>
      </p:ext>
    </p188:extLst>
  </p188:cm>
</p188:cmLst>
</file>

<file path=ppt/comments/modernComment_124_44AFE2B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98EE4A-A75D-4813-ABF6-327AE79BE17D}" authorId="{15753414-692A-F11C-F79D-42188830382B}" created="2026-03-03T00:48:03.448">
    <pc:sldMkLst xmlns:pc="http://schemas.microsoft.com/office/powerpoint/2013/main/command">
      <pc:docMk/>
      <pc:sldMk cId="1152377525" sldId="292"/>
    </pc:sldMkLst>
    <p188:txBody>
      <a:bodyPr/>
      <a:lstStyle/>
      <a:p>
        <a:r>
          <a:rPr lang="en-US"/>
          <a:t>split across slides</a:t>
        </a:r>
      </a:p>
    </p188:txBody>
  </p188:cm>
</p188:cmLst>
</file>

<file path=ppt/comments/modernComment_127_F611DD7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1708A9-7D6E-461E-94F6-59354F95002C}" authorId="{BA75CF19-AD43-60C8-656B-2EFE71527EA7}" created="2026-03-03T00:02:19.279">
    <pc:sldMkLst xmlns:pc="http://schemas.microsoft.com/office/powerpoint/2013/main/command">
      <pc:docMk/>
      <pc:sldMk cId="4128365944" sldId="295"/>
    </pc:sldMkLst>
    <p188:txBody>
      <a:bodyPr/>
      <a:lstStyle/>
      <a:p>
        <a:r>
          <a:rPr lang="en-US"/>
          <a:t>Will need to add Phantomsea</a:t>
        </a:r>
      </a:p>
    </p188:txBody>
  </p188:cm>
  <p188:cm id="{B841734D-4453-44AE-AE26-A7BC1BEA40D3}" authorId="{15753414-692A-F11C-F79D-42188830382B}" created="2026-03-03T00:48:45.745">
    <pc:sldMkLst xmlns:pc="http://schemas.microsoft.com/office/powerpoint/2013/main/command">
      <pc:docMk/>
      <pc:sldMk cId="4128365944" sldId="295"/>
    </pc:sldMkLst>
    <p188:txBody>
      <a:bodyPr/>
      <a:lstStyle/>
      <a:p>
        <a:r>
          <a:rPr lang="en-US"/>
          <a:t>for this I was more thinking what competitors are offering from an infotainment perspective vs overarching financials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EA5DD-5914-41D0-9A62-ED01E96BF33D}" type="datetimeFigureOut"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385A4-C4A6-437D-9FDA-8DA0D209FE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24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BEV – Battery Electric Vehicle </a:t>
            </a:r>
          </a:p>
          <a:p>
            <a:r>
              <a:rPr lang="en-US">
                <a:ea typeface="Calibri"/>
                <a:cs typeface="Calibri"/>
              </a:rPr>
              <a:t>PHEV – Plug In Hybrid Electric Vehicle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385A4-C4A6-437D-9FDA-8DA0D209FEE7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6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Tesla, Inc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buFont typeface="Courier New,monospace"/>
              <a:buChar char="•"/>
            </a:pPr>
            <a:r>
              <a:rPr lang="en-US"/>
              <a:t>24.8% Market Share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buFont typeface="Courier New,monospace"/>
              <a:buChar char="•"/>
            </a:pPr>
            <a:r>
              <a:rPr lang="en-US"/>
              <a:t>4.3% Profit Margin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Courier New,monospace"/>
              <a:buChar char="o"/>
            </a:pPr>
            <a:r>
              <a:rPr lang="en-US"/>
              <a:t>Toyota Motor Corp 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buFont typeface="Courier New,monospace"/>
              <a:buChar char="•"/>
            </a:pPr>
            <a:r>
              <a:rPr lang="en-US"/>
              <a:t>15.9% Market Share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buFont typeface="Courier New,monospace"/>
              <a:buChar char="•"/>
            </a:pPr>
            <a:r>
              <a:rPr lang="en-US"/>
              <a:t>7.7% Profit Margin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Courier New,monospace"/>
              <a:buChar char="o"/>
            </a:pPr>
            <a:r>
              <a:rPr lang="en-US"/>
              <a:t>Ford Motor Co 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buFont typeface="Courier New,monospace"/>
              <a:buChar char="•"/>
            </a:pPr>
            <a:r>
              <a:rPr lang="en-US"/>
              <a:t>14.4% Market Share 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buFont typeface="Courier New,monospace"/>
              <a:buChar char="•"/>
            </a:pPr>
            <a:r>
              <a:rPr lang="en-US"/>
              <a:t>1.2% Profit Margin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Courier New,monospace"/>
              <a:buChar char="o"/>
            </a:pPr>
            <a:r>
              <a:rPr lang="en-US"/>
              <a:t>Honda Motor Co Ltd 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buFont typeface="Courier New,monospace"/>
              <a:buChar char="•"/>
            </a:pPr>
            <a:r>
              <a:rPr lang="en-US"/>
              <a:t>8.2% Market Share 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buFont typeface="Courier New,monospace"/>
              <a:buChar char="•"/>
            </a:pPr>
            <a:r>
              <a:rPr lang="en-US"/>
              <a:t>-0.5% Profit Margin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buFont typeface="Courier New,monospace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110000"/>
              </a:lnSpc>
              <a:spcBef>
                <a:spcPts val="500"/>
              </a:spcBef>
              <a:buFont typeface="Courier New,monospace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/>
              <a:t>General Motors Company </a:t>
            </a:r>
          </a:p>
          <a:p>
            <a:pPr marL="742950" lvl="1" indent="-285750">
              <a:lnSpc>
                <a:spcPct val="11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7.6% Market Share </a:t>
            </a:r>
          </a:p>
          <a:p>
            <a:pPr marL="742950" lvl="1" indent="-285750">
              <a:lnSpc>
                <a:spcPct val="11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2.2% Profit Margin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Courier New,monospace"/>
              <a:buChar char="o"/>
            </a:pPr>
            <a:r>
              <a:rPr lang="en-US"/>
              <a:t>Hyundai Motor Group </a:t>
            </a:r>
          </a:p>
          <a:p>
            <a:pPr marL="742950" lvl="1" indent="-285750">
              <a:lnSpc>
                <a:spcPct val="11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5.4% Market Share </a:t>
            </a:r>
          </a:p>
          <a:p>
            <a:pPr marL="742950" lvl="1" indent="-285750">
              <a:lnSpc>
                <a:spcPct val="11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7.9% Profit Margin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Courier New,monospace"/>
              <a:buChar char="o"/>
            </a:pPr>
            <a:r>
              <a:rPr lang="en-US"/>
              <a:t>Rivian </a:t>
            </a:r>
          </a:p>
          <a:p>
            <a:pPr marL="742950" lvl="1" indent="-285750">
              <a:lnSpc>
                <a:spcPct val="11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3.8% Market Share</a:t>
            </a:r>
          </a:p>
          <a:p>
            <a:pPr marL="742950" lvl="1" indent="-285750">
              <a:lnSpc>
                <a:spcPct val="11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-24.2% Profit Margin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buFont typeface="Courier New,monospace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385A4-C4A6-437D-9FDA-8DA0D209FEE7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03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4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76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94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75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8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8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3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7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0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3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66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920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2_8B7569F9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aafoundation.org/american-driving-survey-2024/" TargetMode="External"/><Relationship Id="rId2" Type="http://schemas.microsoft.com/office/2018/10/relationships/comments" Target="../comments/modernComment_12B_8F7F8FA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industries/automotive-and-assembly/our-insights/how-do-consumers-perceive-in-car-connectivity-and-digital-servic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ea.org/data-and-statistics/data-tools/global-ev-data-explorer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7_F611DD7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hyperlink" Target="https://my-ibisworld-com.www2.lib.ku.edu/us/en/industry-specialized/OD4516/companies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4_44AFE2B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2" y="960594"/>
            <a:ext cx="6627104" cy="4936812"/>
          </a:xfrm>
        </p:spPr>
        <p:txBody>
          <a:bodyPr anchor="ctr">
            <a:normAutofit/>
          </a:bodyPr>
          <a:lstStyle/>
          <a:p>
            <a:pPr algn="r"/>
            <a:r>
              <a:rPr lang="en-US" sz="4400" b="1"/>
              <a:t>PhantomSea – Abyss gt</a:t>
            </a:r>
          </a:p>
          <a:p>
            <a:pPr algn="r"/>
            <a:r>
              <a:rPr lang="en-US" sz="2800"/>
              <a:t>Digital Revenue Strategy</a:t>
            </a:r>
          </a:p>
          <a:p>
            <a:pPr algn="r"/>
            <a:r>
              <a:rPr lang="en-US" sz="2000"/>
              <a:t>Team 3 — BSAN 760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2185" y="1390650"/>
            <a:ext cx="3019423" cy="4076700"/>
          </a:xfrm>
        </p:spPr>
        <p:txBody>
          <a:bodyPr anchor="ctr">
            <a:normAutofit/>
          </a:bodyPr>
          <a:lstStyle/>
          <a:p>
            <a:r>
              <a:rPr lang="en-US" sz="2200"/>
              <a:t>Digital Product Team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403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DB83C-8E04-7E63-3C0F-ED0FDAAC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4B44F-2630-AA59-EB40-249564230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/>
              <a:t>January 2026 — PhantomSea Digital Revenue Snapshot</a:t>
            </a:r>
          </a:p>
          <a:p>
            <a:pPr>
              <a:buNone/>
            </a:pPr>
            <a:endParaRPr lang="en-US" sz="1400"/>
          </a:p>
          <a:p>
            <a:pPr marL="228600" indent="-228600">
              <a:buFont typeface="Arial"/>
              <a:buChar char="▸"/>
            </a:pPr>
            <a:r>
              <a:rPr lang="en-US" sz="1700" b="1"/>
              <a:t>$51,195 </a:t>
            </a:r>
            <a:r>
              <a:rPr lang="en-US" sz="1700"/>
              <a:t>Monthly App Revenue — 6 apps across 30,112 vehicles</a:t>
            </a:r>
          </a:p>
          <a:p>
            <a:pPr marL="228600" indent="-228600">
              <a:buFont typeface="Arial"/>
              <a:buChar char="▸"/>
            </a:pPr>
            <a:r>
              <a:rPr lang="en-US" sz="1700" b="1"/>
              <a:t>$35,192 </a:t>
            </a:r>
            <a:r>
              <a:rPr lang="en-US" sz="1700"/>
              <a:t>Net Monthly Profit — 68.7% margin</a:t>
            </a:r>
          </a:p>
          <a:p>
            <a:pPr marL="228600" indent="-228600">
              <a:buFont typeface="Arial"/>
              <a:buChar char="▸"/>
            </a:pPr>
            <a:r>
              <a:rPr lang="en-US" sz="1700" b="1"/>
              <a:t>8.4% </a:t>
            </a:r>
            <a:r>
              <a:rPr lang="en-US" sz="1700"/>
              <a:t>Avg Penetration Rate — 15,197 active users out of 30,112 vehicles</a:t>
            </a:r>
          </a:p>
          <a:p>
            <a:pPr marL="228600" indent="-228600">
              <a:buFont typeface="Arial"/>
              <a:buChar char="▸"/>
            </a:pPr>
            <a:r>
              <a:rPr lang="en-US" sz="1700" b="1"/>
              <a:t>+65.6% </a:t>
            </a:r>
            <a:r>
              <a:rPr lang="en-US" sz="1700"/>
              <a:t>Car fleet growth since Jul 2025 — app adoption is lagging behind</a:t>
            </a:r>
          </a:p>
          <a:p>
            <a:pPr>
              <a:buNone/>
            </a:pPr>
            <a:endParaRPr lang="en-US" sz="1400"/>
          </a:p>
          <a:p>
            <a:pPr>
              <a:buNone/>
            </a:pPr>
            <a:r>
              <a:rPr lang="en-US" sz="1500" i="1"/>
              <a:t>Car sales slowing from economic downturn — app revenue is small today but has massive growth potential.</a:t>
            </a:r>
          </a:p>
        </p:txBody>
      </p:sp>
    </p:spTree>
    <p:extLst>
      <p:ext uri="{BB962C8B-B14F-4D97-AF65-F5344CB8AC3E}">
        <p14:creationId xmlns:p14="http://schemas.microsoft.com/office/powerpoint/2010/main" val="3099572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FB84-61F7-0F8E-0C9D-13CD7F3D2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A7848-18C8-C3A2-43CE-EE2C89FE3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1700" b="1"/>
              <a:t>1. Economic Downturn — Car Sales Are Slowing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Traditional car sales revenue under pressure from macroeconomic conditions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App revenue ($51K/mo) is small today — but scalable and recurring</a:t>
            </a:r>
          </a:p>
          <a:p>
            <a:pPr>
              <a:buNone/>
            </a:pPr>
            <a:endParaRPr lang="en-US" sz="1400"/>
          </a:p>
          <a:p>
            <a:pPr>
              <a:buNone/>
            </a:pPr>
            <a:r>
              <a:rPr lang="en-US" sz="1700" b="1"/>
              <a:t>2. Massive Untapped Market — Only 8.4% Penetration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30,112 vehicles on the road (+65.6% growth since Jul 2025)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91.6% of vehicle owners have zero app subscriptions — huge opportunity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Fleet growing fast, but app adoption is not keeping pace</a:t>
            </a:r>
          </a:p>
          <a:p>
            <a:pPr>
              <a:buNone/>
            </a:pPr>
            <a:endParaRPr lang="en-US" sz="1400"/>
          </a:p>
          <a:p>
            <a:pPr>
              <a:buNone/>
            </a:pPr>
            <a:r>
              <a:rPr lang="en-US" sz="1700" b="1"/>
              <a:t>3. Revenue Concentration Risk</a:t>
            </a:r>
          </a:p>
          <a:p>
            <a:pPr marL="228600" indent="-228600">
              <a:buFont typeface="Arial"/>
              <a:buChar char="•"/>
            </a:pPr>
            <a:r>
              <a:rPr lang="en-US" sz="1600" b="1"/>
              <a:t>Map Directions + Toones = 93% of all app revenue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Only 2 of 6 apps are meaningful revenue drivers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NewNews -50.7% YTD, Unicorn Xplode -32.1% YTD — active deterioration</a:t>
            </a:r>
          </a:p>
        </p:txBody>
      </p:sp>
    </p:spTree>
    <p:extLst>
      <p:ext uri="{BB962C8B-B14F-4D97-AF65-F5344CB8AC3E}">
        <p14:creationId xmlns:p14="http://schemas.microsoft.com/office/powerpoint/2010/main" val="23397278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5EA22-478C-20DA-92EE-2123202C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Digital Product  Team Guiding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ED41-F371-967B-7ED7-82BD14DE9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How to establish SCA?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Sustainable competitive advantage</a:t>
            </a:r>
          </a:p>
        </p:txBody>
      </p:sp>
    </p:spTree>
    <p:extLst>
      <p:ext uri="{BB962C8B-B14F-4D97-AF65-F5344CB8AC3E}">
        <p14:creationId xmlns:p14="http://schemas.microsoft.com/office/powerpoint/2010/main" val="310632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88FE6-0757-8132-7548-947369100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spent in the car Per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1C2C6-5574-8605-5A74-BBC93ECD6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2.44 trips</a:t>
            </a:r>
          </a:p>
          <a:p>
            <a:r>
              <a:rPr lang="en-US"/>
              <a:t>60.4 minutes</a:t>
            </a:r>
          </a:p>
          <a:p>
            <a:r>
              <a:rPr lang="en-US"/>
              <a:t>31.1 miles</a:t>
            </a:r>
          </a:p>
          <a:p>
            <a:r>
              <a:rPr lang="en-US">
                <a:ea typeface="+mn-lt"/>
                <a:cs typeface="+mn-lt"/>
              </a:rPr>
              <a:t>EVs recorded the longest average trip times (16.0 minutes) and distances (32.9 miles)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FAC73-6BAC-74D2-39A6-08FC56D0B88D}"/>
              </a:ext>
            </a:extLst>
          </p:cNvPr>
          <p:cNvSpPr txBox="1"/>
          <p:nvPr/>
        </p:nvSpPr>
        <p:spPr>
          <a:xfrm>
            <a:off x="5392003" y="6586001"/>
            <a:ext cx="679819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/>
              <a:t>AAA Foundation American Driving Survey: 2024, </a:t>
            </a:r>
            <a:r>
              <a:rPr lang="en-US" sz="1100">
                <a:ea typeface="+mn-lt"/>
                <a:cs typeface="+mn-lt"/>
                <a:hlinkClick r:id="rId3"/>
              </a:rPr>
              <a:t>https://aaafoundation.org/american-driving-survey-2024/</a:t>
            </a:r>
            <a:endParaRPr lang="en-US" sz="11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75017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E19B-A4DD-D36E-E8FE-50A2A2748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  Buyers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C0E18-7D1A-A141-25C1-F4D909DD4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588" y="1927256"/>
            <a:ext cx="10685312" cy="40346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/>
              <a:t>EV Buyer Preferences</a:t>
            </a:r>
          </a:p>
          <a:p>
            <a:pPr>
              <a:buFont typeface="Arial"/>
              <a:buChar char="▸"/>
            </a:pPr>
            <a:r>
              <a:rPr lang="en-US" sz="1600"/>
              <a:t>69% of EV buyers plan to increase their use of connectivity solutions</a:t>
            </a:r>
          </a:p>
          <a:p>
            <a:pPr lvl="1">
              <a:buFont typeface="Arial"/>
              <a:buChar char="▸"/>
            </a:pPr>
            <a:r>
              <a:rPr lang="en-US" sz="1600"/>
              <a:t>Compared to 47% of traditional car purchasers</a:t>
            </a:r>
          </a:p>
          <a:p>
            <a:pPr>
              <a:buFont typeface="Arial"/>
              <a:buChar char="▸"/>
            </a:pPr>
            <a:r>
              <a:rPr lang="en-US" sz="1600"/>
              <a:t>Only 45% of car owners use Apple CarPlay or Android Auto, when it is available</a:t>
            </a:r>
          </a:p>
          <a:p>
            <a:pPr lvl="1">
              <a:buFont typeface="Arial"/>
              <a:buChar char="▸"/>
            </a:pPr>
            <a:r>
              <a:rPr lang="en-US" sz="1600"/>
              <a:t>Majority still uses OEM infotainment and applications</a:t>
            </a:r>
          </a:p>
          <a:p>
            <a:pPr lvl="2"/>
            <a:endParaRPr lang="en-US"/>
          </a:p>
          <a:p>
            <a:pPr marL="0" indent="0">
              <a:buNone/>
            </a:pPr>
            <a:r>
              <a:rPr lang="en-US" sz="1600" b="1"/>
              <a:t>Current EV Market Sales in the U.S.</a:t>
            </a:r>
          </a:p>
          <a:p>
            <a:pPr>
              <a:buFont typeface="Arial"/>
              <a:buChar char="▸"/>
            </a:pPr>
            <a:r>
              <a:rPr lang="en-US" sz="1600"/>
              <a:t>1.5 Million Total U.S. EV sales in 2024 </a:t>
            </a:r>
          </a:p>
          <a:p>
            <a:pPr lvl="1">
              <a:buFont typeface="Arial"/>
              <a:buChar char="▸"/>
            </a:pPr>
            <a:r>
              <a:rPr lang="en-US" sz="1600"/>
              <a:t>1.2 Million BEV sales </a:t>
            </a:r>
          </a:p>
          <a:p>
            <a:pPr lvl="1">
              <a:buFont typeface="Arial"/>
              <a:buChar char="▸"/>
            </a:pPr>
            <a:r>
              <a:rPr lang="en-US" sz="1600"/>
              <a:t>320,000 PHEV sales</a:t>
            </a:r>
          </a:p>
          <a:p>
            <a:pPr>
              <a:buFont typeface="Arial"/>
              <a:buChar char="▸"/>
            </a:pPr>
            <a:r>
              <a:rPr lang="en-US" sz="1600"/>
              <a:t>3.4 Million Projected Total U.S. EV sales by 2030 </a:t>
            </a:r>
          </a:p>
          <a:p>
            <a:pPr>
              <a:buFont typeface="Arial"/>
              <a:buChar char="▸"/>
            </a:pPr>
            <a:endParaRPr lang="en-US" sz="16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AFCFB1-38EC-06A1-4301-9E49B17C8A8F}"/>
              </a:ext>
            </a:extLst>
          </p:cNvPr>
          <p:cNvSpPr txBox="1"/>
          <p:nvPr/>
        </p:nvSpPr>
        <p:spPr>
          <a:xfrm>
            <a:off x="540648" y="6178303"/>
            <a:ext cx="11017059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McKinsey &amp; Company, </a:t>
            </a:r>
            <a:r>
              <a:rPr lang="en-US" sz="1100">
                <a:ea typeface="+mn-lt"/>
                <a:cs typeface="+mn-lt"/>
                <a:hlinkClick r:id="rId3"/>
              </a:rPr>
              <a:t>https://www.mckinsey.com/industries/automotive-and-assembly/our-insights/how-do-consumers-perceive-in-car-connectivity-and-digital-services</a:t>
            </a:r>
            <a:r>
              <a:rPr lang="en-US" sz="1100">
                <a:ea typeface="+mn-lt"/>
                <a:cs typeface="+mn-lt"/>
              </a:rPr>
              <a:t>?</a:t>
            </a:r>
          </a:p>
          <a:p>
            <a:r>
              <a:rPr lang="en-US" sz="1100"/>
              <a:t>International Energy Agency, </a:t>
            </a:r>
            <a:r>
              <a:rPr lang="en-US" sz="1200">
                <a:latin typeface="Calibri"/>
                <a:ea typeface="Calibri"/>
                <a:cs typeface="Calibri"/>
                <a:hlinkClick r:id="rId4"/>
              </a:rPr>
              <a:t>https://www.iea.org/data-and-statistics/data-tools/global-ev-data-explorer</a:t>
            </a:r>
            <a:endParaRPr lang="en-US" sz="1100">
              <a:latin typeface="Calisto M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1467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9AF8-0C0D-6F27-055C-A2295AF1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Competitor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8363D-4BC0-1DFE-5692-956A96C32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91955"/>
            <a:ext cx="4944531" cy="396993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 marL="457200" lvl="1" indent="0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248554-E857-178F-4E06-BF2948C9139F}"/>
              </a:ext>
            </a:extLst>
          </p:cNvPr>
          <p:cNvSpPr txBox="1"/>
          <p:nvPr/>
        </p:nvSpPr>
        <p:spPr>
          <a:xfrm>
            <a:off x="5650301" y="6599206"/>
            <a:ext cx="654169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/>
              <a:t>IBIS World, </a:t>
            </a:r>
            <a:r>
              <a:rPr lang="en-US" sz="1100">
                <a:ea typeface="+mn-lt"/>
                <a:cs typeface="+mn-lt"/>
                <a:hlinkClick r:id="rId4"/>
              </a:rPr>
              <a:t>https://my-ibisworld-com.www2.lib.ku.edu/us/en/industry-specialized/OD4516/companies</a:t>
            </a:r>
            <a:endParaRPr lang="en-US" sz="1100">
              <a:ea typeface="+mn-lt"/>
              <a:cs typeface="+mn-lt"/>
            </a:endParaRPr>
          </a:p>
        </p:txBody>
      </p:sp>
      <p:graphicFrame>
        <p:nvGraphicFramePr>
          <p:cNvPr id="5" name="Chart 4" descr="Chart type: Stacked Column. 'Market Share', 'Profit Margin' by 'EV Manufacturer'&#10;&#10;Description automatically generated">
            <a:extLst>
              <a:ext uri="{FF2B5EF4-FFF2-40B4-BE49-F238E27FC236}">
                <a16:creationId xmlns:a16="http://schemas.microsoft.com/office/drawing/2014/main" id="{0039D298-0BDF-B0E2-BB02-544A3F24B6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3032867"/>
              </p:ext>
            </p:extLst>
          </p:nvPr>
        </p:nvGraphicFramePr>
        <p:xfrm>
          <a:off x="1678782" y="1563291"/>
          <a:ext cx="8577261" cy="4682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1283659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74FD-7F5D-E858-2988-83173E19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/>
              <a:t>Technology Stack</a:t>
            </a:r>
            <a:r>
              <a:rPr lang="en-US" sz="1600"/>
              <a:t>  —  Plausible Tech Criterion (33% of Grade)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952DA-1A25-11A8-C4E0-960710A65F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1700" b="1"/>
              <a:t>Abyss GT Hardware Platform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5G OLED Touchscreen </a:t>
            </a:r>
            <a:r>
              <a:rPr lang="en-US" sz="1600"/>
              <a:t>High-res display for apps, navigation, media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AR Windshield </a:t>
            </a:r>
            <a:r>
              <a:rPr lang="en-US" sz="1600"/>
              <a:t>Augmented overlay, heads-up navigation display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Biometric Sensors </a:t>
            </a:r>
            <a:r>
              <a:rPr lang="en-US" sz="1600"/>
              <a:t>Driver ID, fatigue detection, personalization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AI Smart Assistant </a:t>
            </a:r>
            <a:r>
              <a:rPr lang="en-US" sz="1600"/>
              <a:t>Voice control, recommendations, upsell engine</a:t>
            </a:r>
          </a:p>
          <a:p>
            <a:pPr>
              <a:buNone/>
            </a:pPr>
            <a:endParaRPr lang="en-US" sz="1400"/>
          </a:p>
          <a:p>
            <a:pPr>
              <a:buNone/>
            </a:pPr>
            <a:r>
              <a:rPr lang="en-US" sz="1700" b="1"/>
              <a:t>Platform Value Proposition</a:t>
            </a:r>
          </a:p>
          <a:p>
            <a:pPr>
              <a:buFont typeface="Arial"/>
              <a:buChar char="▸"/>
            </a:pPr>
            <a:r>
              <a:rPr lang="en-US" sz="1600"/>
              <a:t>Premium hardware justifies premium recurring subscriptions</a:t>
            </a:r>
          </a:p>
          <a:p>
            <a:pPr>
              <a:buFont typeface="Arial"/>
              <a:buChar char="▸"/>
            </a:pPr>
            <a:r>
              <a:rPr lang="en-US" sz="1600"/>
              <a:t>5G enables real-time data across all 6 apps</a:t>
            </a:r>
          </a:p>
          <a:p>
            <a:pPr>
              <a:buFont typeface="Arial"/>
              <a:buChar char="▸"/>
            </a:pPr>
            <a:r>
              <a:rPr lang="en-US" sz="1600"/>
              <a:t>Biometrics power personalized upsell &amp; retention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50FD0-1B45-CA2D-F93B-23FBD53045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1700" b="1"/>
              <a:t>How Each App Uses the Platform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Map Directions </a:t>
            </a:r>
            <a:r>
              <a:rPr lang="en-US" sz="1600"/>
              <a:t>5G + AR windshield for real-time nav overlay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Toones </a:t>
            </a:r>
            <a:r>
              <a:rPr lang="en-US" sz="1600"/>
              <a:t>OLED + 5G for premium in-cabin audio streaming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Unicorn Xplode </a:t>
            </a:r>
            <a:r>
              <a:rPr lang="en-US" sz="1600"/>
              <a:t>Gaming via OLED touchscreen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NewNews </a:t>
            </a:r>
            <a:r>
              <a:rPr lang="en-US" sz="1600"/>
              <a:t>5G real-time news aggregation on OLED display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Cat Scratchers </a:t>
            </a:r>
            <a:r>
              <a:rPr lang="en-US" sz="1600"/>
              <a:t>Casual touch gaming on OLED during stops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Speedper </a:t>
            </a:r>
            <a:r>
              <a:rPr lang="en-US" sz="1600"/>
              <a:t>Biometric + AI for driver performance tracking</a:t>
            </a:r>
          </a:p>
          <a:p>
            <a:pPr>
              <a:buNone/>
            </a:pPr>
            <a:endParaRPr lang="en-US" sz="1400"/>
          </a:p>
          <a:p>
            <a:pPr>
              <a:buNone/>
            </a:pPr>
            <a:r>
              <a:rPr lang="en-US" sz="1500" b="1" i="1"/>
              <a:t>All 6 apps are purpose-built for the Abyss GT hardware ecosystem</a:t>
            </a:r>
          </a:p>
        </p:txBody>
      </p:sp>
    </p:spTree>
    <p:extLst>
      <p:ext uri="{BB962C8B-B14F-4D97-AF65-F5344CB8AC3E}">
        <p14:creationId xmlns:p14="http://schemas.microsoft.com/office/powerpoint/2010/main" val="4161180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4E28E5-D2A1-418D-AD93-6F6EF913A3AA}"/>
              </a:ext>
            </a:extLst>
          </p:cNvPr>
          <p:cNvGraphicFramePr>
            <a:graphicFrameLocks noGrp="1"/>
          </p:cNvGraphicFramePr>
          <p:nvPr/>
        </p:nvGraphicFramePr>
        <p:xfrm>
          <a:off x="279400" y="711200"/>
          <a:ext cx="11633202" cy="414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578">
                  <a:extLst>
                    <a:ext uri="{9D8B030D-6E8A-4147-A177-3AD203B41FA5}">
                      <a16:colId xmlns:a16="http://schemas.microsoft.com/office/drawing/2014/main" val="3021310434"/>
                    </a:ext>
                  </a:extLst>
                </a:gridCol>
                <a:gridCol w="1292578">
                  <a:extLst>
                    <a:ext uri="{9D8B030D-6E8A-4147-A177-3AD203B41FA5}">
                      <a16:colId xmlns:a16="http://schemas.microsoft.com/office/drawing/2014/main" val="2414139065"/>
                    </a:ext>
                  </a:extLst>
                </a:gridCol>
                <a:gridCol w="1292578">
                  <a:extLst>
                    <a:ext uri="{9D8B030D-6E8A-4147-A177-3AD203B41FA5}">
                      <a16:colId xmlns:a16="http://schemas.microsoft.com/office/drawing/2014/main" val="1633404874"/>
                    </a:ext>
                  </a:extLst>
                </a:gridCol>
                <a:gridCol w="1292578">
                  <a:extLst>
                    <a:ext uri="{9D8B030D-6E8A-4147-A177-3AD203B41FA5}">
                      <a16:colId xmlns:a16="http://schemas.microsoft.com/office/drawing/2014/main" val="3910332452"/>
                    </a:ext>
                  </a:extLst>
                </a:gridCol>
                <a:gridCol w="1292578">
                  <a:extLst>
                    <a:ext uri="{9D8B030D-6E8A-4147-A177-3AD203B41FA5}">
                      <a16:colId xmlns:a16="http://schemas.microsoft.com/office/drawing/2014/main" val="3002978958"/>
                    </a:ext>
                  </a:extLst>
                </a:gridCol>
                <a:gridCol w="1292578">
                  <a:extLst>
                    <a:ext uri="{9D8B030D-6E8A-4147-A177-3AD203B41FA5}">
                      <a16:colId xmlns:a16="http://schemas.microsoft.com/office/drawing/2014/main" val="3190148543"/>
                    </a:ext>
                  </a:extLst>
                </a:gridCol>
                <a:gridCol w="1292578">
                  <a:extLst>
                    <a:ext uri="{9D8B030D-6E8A-4147-A177-3AD203B41FA5}">
                      <a16:colId xmlns:a16="http://schemas.microsoft.com/office/drawing/2014/main" val="291159697"/>
                    </a:ext>
                  </a:extLst>
                </a:gridCol>
                <a:gridCol w="1292578">
                  <a:extLst>
                    <a:ext uri="{9D8B030D-6E8A-4147-A177-3AD203B41FA5}">
                      <a16:colId xmlns:a16="http://schemas.microsoft.com/office/drawing/2014/main" val="185389944"/>
                    </a:ext>
                  </a:extLst>
                </a:gridCol>
                <a:gridCol w="1292578">
                  <a:extLst>
                    <a:ext uri="{9D8B030D-6E8A-4147-A177-3AD203B41FA5}">
                      <a16:colId xmlns:a16="http://schemas.microsoft.com/office/drawing/2014/main" val="18628672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en-US" sz="13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Penetr.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93465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1300"/>
                        <a:t>Map Directions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DigiMaps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5,660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$29,715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$9,988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$19,727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18.8%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97781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1300"/>
                        <a:t>Toones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Tzynergism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7,070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$17,675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$4,393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$13,282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75.1%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23.5%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21074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1300"/>
                        <a:t>Unicorn Xplode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Tzynergism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1,440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$2,160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$1,652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76.5%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4.8%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91554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1300"/>
                        <a:t>NewNews 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Sloozer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$1.99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$1,317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41.6%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2.2%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93258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1300"/>
                        <a:t>Cat Scratchers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CATLY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40.9%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60470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1300"/>
                        <a:t>Speedper (Beta)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Tzynergism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-$150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0.1%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93631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13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15,197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$51,195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$16,003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$35,192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68.7%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~8.4%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6307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401E2A-FBA5-454E-98FA-869266FA7B43}"/>
              </a:ext>
            </a:extLst>
          </p:cNvPr>
          <p:cNvSpPr txBox="1"/>
          <p:nvPr/>
        </p:nvSpPr>
        <p:spPr>
          <a:xfrm>
            <a:off x="279402" y="4988910"/>
            <a:ext cx="11633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/>
              <a:t>⚠️  Revenue Concentration Warning</a:t>
            </a:r>
          </a:p>
          <a:p>
            <a:pPr marL="228600" indent="-228600">
              <a:buFont typeface="Arial"/>
              <a:buChar char="•"/>
            </a:pPr>
            <a:r>
              <a:rPr lang="en-US" sz="1500"/>
              <a:t>Map Directions + Toones = 93% of all app revenue (Map alone = 58%)</a:t>
            </a:r>
          </a:p>
          <a:p>
            <a:pPr marL="228600" indent="-228600">
              <a:buFont typeface="Arial"/>
              <a:buChar char="•"/>
            </a:pPr>
            <a:r>
              <a:rPr lang="en-US" sz="1500"/>
              <a:t>Only 2 of 6 apps are meaningful revenue drivers — extreme concentration risk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B98FB0-B9C9-49F7-B584-B6BE85CC57BD}"/>
              </a:ext>
            </a:extLst>
          </p:cNvPr>
          <p:cNvSpPr txBox="1"/>
          <p:nvPr/>
        </p:nvSpPr>
        <p:spPr>
          <a:xfrm>
            <a:off x="279400" y="76200"/>
            <a:ext cx="10414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/>
              <a:t>App Performance Overview — January 2026</a:t>
            </a:r>
          </a:p>
        </p:txBody>
      </p:sp>
    </p:spTree>
    <p:extLst>
      <p:ext uri="{BB962C8B-B14F-4D97-AF65-F5344CB8AC3E}">
        <p14:creationId xmlns:p14="http://schemas.microsoft.com/office/powerpoint/2010/main" val="3328325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310A2-4796-E47B-E244-25609287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/>
              <a:t>Analytics Deep-Dive</a:t>
            </a:r>
            <a:r>
              <a:rPr lang="en-US" sz="1600"/>
              <a:t>  —  Analytics Criterion (33% of Grade)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A25A3-B4E3-CD6F-1192-EAEFD18CFD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 sz="1700" b="1"/>
              <a:t>User Growth Trends (Jul 2025 → Jan 2026)</a:t>
            </a:r>
          </a:p>
          <a:p>
            <a:pPr>
              <a:buFont typeface="Arial"/>
              <a:buChar char="▸"/>
            </a:pPr>
            <a:r>
              <a:rPr lang="en-US" sz="1600" b="1" err="1"/>
              <a:t>Toones</a:t>
            </a:r>
            <a:r>
              <a:rPr lang="en-US" sz="1600" b="1"/>
              <a:t>: </a:t>
            </a:r>
            <a:r>
              <a:rPr lang="en-US" sz="1600"/>
              <a:t>6,748 → 7,070 (+4.8%) — steady growth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Map Directions: </a:t>
            </a:r>
            <a:r>
              <a:rPr lang="en-US" sz="1600"/>
              <a:t>5,569 → 5,660 (+1.6%) — stable captive users</a:t>
            </a:r>
          </a:p>
          <a:p>
            <a:pPr marL="228600" indent="-228600">
              <a:buFont typeface="Arial"/>
              <a:buChar char="▸"/>
            </a:pPr>
            <a:r>
              <a:rPr lang="en-US" sz="1600" b="1" err="1"/>
              <a:t>NewNews</a:t>
            </a:r>
            <a:r>
              <a:rPr lang="en-US" sz="1600" b="1"/>
              <a:t>: </a:t>
            </a:r>
            <a:r>
              <a:rPr lang="en-US" sz="1600"/>
              <a:t>1,342 → 662 (-50.7%) — consistent monthly decline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Unicorn </a:t>
            </a:r>
            <a:r>
              <a:rPr lang="en-US" sz="1600" b="1" err="1"/>
              <a:t>Xplode</a:t>
            </a:r>
            <a:r>
              <a:rPr lang="en-US" sz="1600" b="1"/>
              <a:t>: </a:t>
            </a:r>
            <a:r>
              <a:rPr lang="en-US" sz="1600"/>
              <a:t>2,122 → 1,440 (-32.1%) — sharp Jan drop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Car Fleet: </a:t>
            </a:r>
            <a:r>
              <a:rPr lang="en-US" sz="1600"/>
              <a:t>18,186 → 30,112 (+65.6%) — far outpacing app adoption</a:t>
            </a:r>
          </a:p>
          <a:p>
            <a:pPr>
              <a:buNone/>
            </a:pPr>
            <a:endParaRPr lang="en-US" sz="1400"/>
          </a:p>
          <a:p>
            <a:pPr>
              <a:buNone/>
            </a:pPr>
            <a:r>
              <a:rPr lang="en-US" sz="1700" b="1"/>
              <a:t>⚠ Data Quality Issues (Flagged)</a:t>
            </a:r>
          </a:p>
          <a:p>
            <a:r>
              <a:rPr lang="en-US" sz="1500" b="1"/>
              <a:t>Unicorn </a:t>
            </a:r>
            <a:r>
              <a:rPr lang="en-US" sz="1500" b="1" err="1"/>
              <a:t>Xplode</a:t>
            </a:r>
            <a:r>
              <a:rPr lang="en-US" sz="1500" b="1"/>
              <a:t>: </a:t>
            </a:r>
            <a:r>
              <a:rPr lang="en-US" sz="1500"/>
              <a:t>Dec 2025 MISSING → drops to 1,440 in Jan (possible </a:t>
            </a:r>
            <a:r>
              <a:rPr lang="en-US" sz="1800"/>
              <a:t>outage)</a:t>
            </a:r>
          </a:p>
          <a:p>
            <a:r>
              <a:rPr lang="en-US" sz="1600" b="1" err="1"/>
              <a:t>Toones</a:t>
            </a:r>
            <a:r>
              <a:rPr lang="en-US" sz="1600" b="1"/>
              <a:t>: </a:t>
            </a:r>
            <a:r>
              <a:rPr lang="en-US" sz="1600"/>
              <a:t>Sep 2025 MISSING — growth rate for that period cannot be computed</a:t>
            </a:r>
          </a:p>
          <a:p>
            <a:r>
              <a:rPr lang="en-US" sz="1600" b="1"/>
              <a:t>Cat Scratchers: </a:t>
            </a:r>
            <a:r>
              <a:rPr lang="en-US" sz="1600"/>
              <a:t>volatile (300→425→203→148→680→412→331) — no clear pattern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BE0FA-93F0-5194-EEE9-0CF9B800E9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1700" b="1"/>
              <a:t>Price Elasticity Analysis (+/- $0.50)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Map Directions </a:t>
            </a:r>
            <a:r>
              <a:rPr lang="en-US" sz="1600"/>
              <a:t>+$0.50 → only -2.9% users. INELASTIC.</a:t>
            </a:r>
          </a:p>
          <a:p>
            <a:pPr marL="228600" indent="-228600">
              <a:buFont typeface="Arial"/>
              <a:buChar char="▸"/>
            </a:pPr>
            <a:r>
              <a:rPr lang="en-US" sz="1600" b="1" err="1"/>
              <a:t>Toones</a:t>
            </a:r>
            <a:r>
              <a:rPr lang="en-US" sz="1600" b="1"/>
              <a:t> </a:t>
            </a:r>
            <a:r>
              <a:rPr lang="en-US" sz="1600"/>
              <a:t>-$0.50 → +14.8% user gain. Highly demand elastic.</a:t>
            </a:r>
          </a:p>
          <a:p>
            <a:pPr marL="228600" indent="-228600">
              <a:buFont typeface="Arial"/>
              <a:buChar char="▸"/>
            </a:pPr>
            <a:r>
              <a:rPr lang="en-US" sz="1600" b="1"/>
              <a:t>Cat Scratchers </a:t>
            </a:r>
            <a:r>
              <a:rPr lang="en-US" sz="1600"/>
              <a:t>+$0.50 → -36.1% users lost. Extremely sensitive.</a:t>
            </a:r>
          </a:p>
          <a:p>
            <a:pPr marL="228600" indent="-228600">
              <a:buFont typeface="Arial"/>
              <a:buChar char="▸"/>
            </a:pPr>
            <a:r>
              <a:rPr lang="en-US" sz="1600" b="1" err="1"/>
              <a:t>NewNews</a:t>
            </a:r>
            <a:r>
              <a:rPr lang="en-US" sz="1600" b="1"/>
              <a:t> </a:t>
            </a:r>
            <a:r>
              <a:rPr lang="en-US" sz="1600"/>
              <a:t>-$0.50 → only +0.25%. Product problem, not price.</a:t>
            </a:r>
          </a:p>
          <a:p>
            <a:pPr marL="228600" indent="-228600">
              <a:buFont typeface="Arial"/>
              <a:buChar char="▸"/>
            </a:pPr>
            <a:r>
              <a:rPr lang="en-US" sz="1600" b="1" err="1"/>
              <a:t>Speedper</a:t>
            </a:r>
            <a:r>
              <a:rPr lang="en-US" sz="1600" b="1"/>
              <a:t> </a:t>
            </a:r>
            <a:r>
              <a:rPr lang="en-US" sz="1600"/>
              <a:t>$0 beta — needs monetization strategy</a:t>
            </a:r>
          </a:p>
          <a:p>
            <a:pPr>
              <a:buNone/>
            </a:pPr>
            <a:endParaRPr lang="en-US" sz="1400"/>
          </a:p>
          <a:p>
            <a:pPr>
              <a:buNone/>
            </a:pPr>
            <a:r>
              <a:rPr lang="en-US" sz="1700" b="1"/>
              <a:t>Key Analytical Insights</a:t>
            </a:r>
          </a:p>
          <a:p>
            <a:r>
              <a:rPr lang="en-US" sz="1500" b="1"/>
              <a:t>Map Directions </a:t>
            </a:r>
            <a:r>
              <a:rPr lang="en-US" sz="1500"/>
              <a:t>users are captive — only nav app. They will pay more.</a:t>
            </a:r>
          </a:p>
          <a:p>
            <a:r>
              <a:rPr lang="en-US" sz="1500" b="1" err="1"/>
              <a:t>Toones</a:t>
            </a:r>
            <a:r>
              <a:rPr lang="en-US" sz="1500" b="1"/>
              <a:t> </a:t>
            </a:r>
            <a:r>
              <a:rPr lang="en-US" sz="1500"/>
              <a:t>discount → adoption → long-term revenue after promo ends</a:t>
            </a:r>
          </a:p>
          <a:p>
            <a:r>
              <a:rPr lang="en-US" sz="1500" b="1" err="1"/>
              <a:t>NewNews</a:t>
            </a:r>
            <a:r>
              <a:rPr lang="en-US" sz="1500" b="1"/>
              <a:t> </a:t>
            </a:r>
            <a:r>
              <a:rPr lang="en-US" sz="1500"/>
              <a:t>decline is product quality — no pricing fix will save it</a:t>
            </a:r>
          </a:p>
        </p:txBody>
      </p:sp>
    </p:spTree>
    <p:extLst>
      <p:ext uri="{BB962C8B-B14F-4D97-AF65-F5344CB8AC3E}">
        <p14:creationId xmlns:p14="http://schemas.microsoft.com/office/powerpoint/2010/main" val="11523775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293ED-AA0D-9BEC-291D-94216164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Pricing Strategy — Data-Backed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4476A-66E1-449E-B145-39AB4B057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28600" indent="-228600">
              <a:buFont typeface="Arial"/>
              <a:buChar char="▸"/>
            </a:pPr>
            <a:r>
              <a:rPr lang="en-US" sz="1700" b="1"/>
              <a:t>Map Directions: RAISE to $5.75 </a:t>
            </a:r>
            <a:r>
              <a:rPr lang="en-US" sz="1600"/>
              <a:t>(from $5.25) — captive users, inelastic demand. Only -2.9% churn = +$2,831/</a:t>
            </a:r>
            <a:r>
              <a:rPr lang="en-US" sz="1600" err="1"/>
              <a:t>mo</a:t>
            </a:r>
            <a:endParaRPr lang="en-US" sz="1600"/>
          </a:p>
          <a:p>
            <a:pPr>
              <a:buNone/>
            </a:pPr>
            <a:endParaRPr lang="en-US" sz="1400"/>
          </a:p>
          <a:p>
            <a:pPr marL="228600" indent="-228600">
              <a:buFont typeface="Arial"/>
              <a:buChar char="▸"/>
            </a:pPr>
            <a:r>
              <a:rPr lang="en-US" sz="1700" b="1" err="1"/>
              <a:t>Toones</a:t>
            </a:r>
            <a:r>
              <a:rPr lang="en-US" sz="1700" b="1"/>
              <a:t>: PROMO $0.50 off for 3 months </a:t>
            </a:r>
            <a:r>
              <a:rPr lang="en-US" sz="1600"/>
              <a:t>— +14.8% users (~1,046 new). High demand elasticity = long-term revenue lift</a:t>
            </a:r>
          </a:p>
          <a:p>
            <a:pPr>
              <a:buNone/>
            </a:pPr>
            <a:endParaRPr lang="en-US" sz="1400"/>
          </a:p>
          <a:p>
            <a:pPr marL="228600" indent="-228600">
              <a:buFont typeface="Arial"/>
              <a:buChar char="▸"/>
            </a:pPr>
            <a:r>
              <a:rPr lang="en-US" sz="1700" b="1"/>
              <a:t>Bundle: "</a:t>
            </a:r>
            <a:r>
              <a:rPr lang="en-US" sz="1700" b="1" err="1"/>
              <a:t>PhantomSea</a:t>
            </a:r>
            <a:r>
              <a:rPr lang="en-US" sz="1700" b="1"/>
              <a:t> Essentials" @ $6.99/</a:t>
            </a:r>
            <a:r>
              <a:rPr lang="en-US" sz="1700" b="1" err="1"/>
              <a:t>mo</a:t>
            </a:r>
            <a:r>
              <a:rPr lang="en-US" sz="1700" b="1"/>
              <a:t> </a:t>
            </a:r>
            <a:r>
              <a:rPr lang="en-US" sz="1600"/>
              <a:t>— Map + </a:t>
            </a:r>
            <a:r>
              <a:rPr lang="en-US" sz="1600" err="1"/>
              <a:t>Toones</a:t>
            </a:r>
            <a:r>
              <a:rPr lang="en-US" sz="1600"/>
              <a:t> (saves vs. $7.75 separate). Drives dual adoption + reduces churn</a:t>
            </a:r>
          </a:p>
          <a:p>
            <a:pPr>
              <a:buNone/>
            </a:pPr>
            <a:endParaRPr lang="en-US" sz="1400"/>
          </a:p>
          <a:p>
            <a:pPr marL="228600" indent="-228600">
              <a:buFont typeface="Arial"/>
              <a:buChar char="▸"/>
            </a:pPr>
            <a:r>
              <a:rPr lang="en-US" sz="1700" b="1"/>
              <a:t>Cat Scratchers: KEEP at $0.99 </a:t>
            </a:r>
            <a:r>
              <a:rPr lang="en-US" sz="1600"/>
              <a:t>— extremely price-sensitive (+$0.50 loses 36.1% of users). Focus on volume growth</a:t>
            </a:r>
          </a:p>
          <a:p>
            <a:pPr>
              <a:buNone/>
            </a:pPr>
            <a:endParaRPr lang="en-US" sz="1400"/>
          </a:p>
          <a:p>
            <a:pPr marL="228600" indent="-228600">
              <a:buFont typeface="Arial"/>
              <a:buChar char="▸"/>
            </a:pPr>
            <a:r>
              <a:rPr lang="en-US" sz="1700" b="1" err="1"/>
              <a:t>Speedper</a:t>
            </a:r>
            <a:r>
              <a:rPr lang="en-US" sz="1700" b="1"/>
              <a:t>: LAUNCH at $0.99/</a:t>
            </a:r>
            <a:r>
              <a:rPr lang="en-US" sz="1700" b="1" err="1"/>
              <a:t>mo</a:t>
            </a:r>
            <a:r>
              <a:rPr lang="en-US" sz="1700" b="1"/>
              <a:t> post-beta </a:t>
            </a:r>
            <a:r>
              <a:rPr lang="en-US" sz="1600"/>
              <a:t>— +127% beta growth, $0 revenue today. Low price = immediate adoption</a:t>
            </a:r>
          </a:p>
        </p:txBody>
      </p:sp>
    </p:spTree>
    <p:extLst>
      <p:ext uri="{BB962C8B-B14F-4D97-AF65-F5344CB8AC3E}">
        <p14:creationId xmlns:p14="http://schemas.microsoft.com/office/powerpoint/2010/main" val="2865957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DAE40-71F9-B5F2-B4DD-A80EB0660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94B28-212E-6B2F-88A5-F0B43B553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24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D3AC-7BD9-9B6D-D3EB-853B5CA2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Monetizing Car data</a:t>
            </a:r>
          </a:p>
        </p:txBody>
      </p:sp>
      <p:pic>
        <p:nvPicPr>
          <p:cNvPr id="4" name="Content Placeholder 3" descr="A diagram of a customer service&#10;&#10;AI-generated content may be incorrect.">
            <a:extLst>
              <a:ext uri="{FF2B5EF4-FFF2-40B4-BE49-F238E27FC236}">
                <a16:creationId xmlns:a16="http://schemas.microsoft.com/office/drawing/2014/main" id="{8BC16989-F1D1-8C5C-1C7E-07023CF9C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0905" y="2221992"/>
            <a:ext cx="8550724" cy="37398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210FED-118F-7902-7B74-8A8D3866BEDD}"/>
              </a:ext>
            </a:extLst>
          </p:cNvPr>
          <p:cNvSpPr txBox="1"/>
          <p:nvPr/>
        </p:nvSpPr>
        <p:spPr>
          <a:xfrm>
            <a:off x="2131237" y="6612290"/>
            <a:ext cx="1006105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/>
              <a:t>McKinsey &amp; Company, </a:t>
            </a:r>
            <a:r>
              <a:rPr lang="en-US" sz="1100">
                <a:ea typeface="+mn-lt"/>
                <a:cs typeface="+mn-lt"/>
              </a:rPr>
              <a:t>https://www.mckinsey.com/industries/automotive-and-assembly/our-insights/unlocking-the-full-life-cycle-value-from-connected-car-data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318707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1E88-30EB-2ED6-52FA-2BCD5D2B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Possibly useful graphic??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85F272-FCAC-F7F7-AB5A-3AC68C980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118" r="-93" b="507"/>
          <a:stretch>
            <a:fillRect/>
          </a:stretch>
        </p:blipFill>
        <p:spPr>
          <a:xfrm>
            <a:off x="2081823" y="2217565"/>
            <a:ext cx="7936286" cy="3725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315CA4-1791-6B71-25DD-727300A7CA71}"/>
              </a:ext>
            </a:extLst>
          </p:cNvPr>
          <p:cNvSpPr txBox="1"/>
          <p:nvPr/>
        </p:nvSpPr>
        <p:spPr>
          <a:xfrm>
            <a:off x="2131237" y="6612290"/>
            <a:ext cx="1006105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/>
              <a:t>McKinsey &amp; Company, </a:t>
            </a:r>
            <a:r>
              <a:rPr lang="en-US" sz="1100">
                <a:ea typeface="+mn-lt"/>
                <a:cs typeface="+mn-lt"/>
              </a:rPr>
              <a:t>https://www.mckinsey.com/industries/automotive-and-assembly/our-insights/unlocking-the-full-life-cycle-value-from-connected-car-data</a:t>
            </a:r>
            <a:endParaRPr lang="en-US" sz="1100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A34C1249-D884-AF7B-9802-8639A923A534}"/>
              </a:ext>
            </a:extLst>
          </p:cNvPr>
          <p:cNvSpPr/>
          <p:nvPr/>
        </p:nvSpPr>
        <p:spPr>
          <a:xfrm>
            <a:off x="4899334" y="4626553"/>
            <a:ext cx="484631" cy="978408"/>
          </a:xfrm>
          <a:prstGeom prst="up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E768E139-4810-3F0C-E1F0-E34AA0AFCE05}"/>
              </a:ext>
            </a:extLst>
          </p:cNvPr>
          <p:cNvSpPr/>
          <p:nvPr/>
        </p:nvSpPr>
        <p:spPr>
          <a:xfrm>
            <a:off x="5801897" y="4626553"/>
            <a:ext cx="484631" cy="978408"/>
          </a:xfrm>
          <a:prstGeom prst="up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78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3BB7-FDD4-C9FF-A5DD-1D445134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notes on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569CF-4BB4-818E-5BC4-D75DBE691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Application support plan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App updates are always OTA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Service level agreement?</a:t>
            </a:r>
          </a:p>
          <a:p>
            <a:r>
              <a:rPr lang="en-US"/>
              <a:t>How can we design our ecosystem for scaling?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67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6637AE-9D99-4A94-B5AF-8E2028432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029420"/>
              </p:ext>
            </p:extLst>
          </p:nvPr>
        </p:nvGraphicFramePr>
        <p:xfrm>
          <a:off x="571500" y="1143000"/>
          <a:ext cx="9017000" cy="226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8436506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34054201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38491108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39136124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32585893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647596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Jan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Feb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Apr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09048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US"/>
                        <a:t>Status Quo (No Action)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$51,195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$50,800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$50,100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$49,200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-3.9%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93093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US"/>
                        <a:t>Conservative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$51,195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$56,800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$63,200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$70,500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+37.7%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8199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US"/>
                        <a:t>Aggressive (Full Roadmap)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$51,195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$62,400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$78,900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$98,200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+91.8%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9768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3A6067D-C8CE-4171-9876-CC5753426120}"/>
              </a:ext>
            </a:extLst>
          </p:cNvPr>
          <p:cNvSpPr txBox="1"/>
          <p:nvPr/>
        </p:nvSpPr>
        <p:spPr>
          <a:xfrm>
            <a:off x="571500" y="3611879"/>
            <a:ext cx="11049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/>
              <a:t>Forecast Assumptions
  Conservative: 5% monthly user growth, Toones promo (+14.8% users month 1), Map Directions price → $5.75
  Aggressive: Adds bundle adoption (15% of users), annual subscriptions, 3rd-party marketplace revenue
  Status Quo: No changes — declining apps continue trend, no new initiatives; fleet +5%/mo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6193C-BCA1-4021-AE99-4EAB334C378B}"/>
              </a:ext>
            </a:extLst>
          </p:cNvPr>
          <p:cNvSpPr txBox="1"/>
          <p:nvPr/>
        </p:nvSpPr>
        <p:spPr>
          <a:xfrm>
            <a:off x="571500" y="5186680"/>
            <a:ext cx="11049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/>
              <a:t>Key Insight: Conservative scenario adds $19K/mo (+37.7%) by Apr 2026 — achievable with pricing changes alone.
Aggressive scenario nearly doubles revenue ($98.2K) if full 30-60-90 day roadmap is executed.</a:t>
            </a:r>
          </a:p>
        </p:txBody>
      </p:sp>
    </p:spTree>
    <p:extLst>
      <p:ext uri="{BB962C8B-B14F-4D97-AF65-F5344CB8AC3E}">
        <p14:creationId xmlns:p14="http://schemas.microsoft.com/office/powerpoint/2010/main" val="2519800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308464-7015-4CDD-8363-3C2CF12EA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60300"/>
              </p:ext>
            </p:extLst>
          </p:nvPr>
        </p:nvGraphicFramePr>
        <p:xfrm>
          <a:off x="279400" y="1117600"/>
          <a:ext cx="11684000" cy="48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3000960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4225956567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76755561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140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Key Actions (Select)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Expected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715866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r>
                        <a:rPr lang="en-US" sz="1300"/>
                        <a:t>Days 1-30: Quick 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Raise Map Directions to $5.75 | Toones promo $0.50 off | Bundle Essentials @ $6.99 | Monetize Speedper @ $0.99 | New owner onboarding pop-up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+$2,831/mo | +1,046 users | New stream | Boost penetration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458705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r>
                        <a:rPr lang="en-US" sz="1300"/>
                        <a:t>Days 31-60: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Annual subscriptions (10-15% off) | Tzynergism exclusive content | Rebuild or sunset NewNews | In-app purchases (Unicorn Xplode) | Referral: 1 mo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Lock-in revenue | Differentiation | Stop -51% bleed | New model | Viral 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502175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r>
                        <a:rPr lang="en-US" sz="1300"/>
                        <a:t>Days 61-90: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3rd-party marketplace (rev share) | PhantomSea+ premium AR tier | Ads in free apps | Spotify/Netflix bundles | AI recommendations | Evaluate acquisitions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Ecosystem expansion | Premium tier | Passive income | New users | Upsell |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40984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300"/>
                        <a:t>Revenue Targets (Apr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Conservative: $70,500/mo (+37.7%)     Aggressive: $98,200/mo (+91.8%)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vs. $51,195 today (Status Quo: $49,200)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981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826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8B271-E6F4-09CF-58CB-9F8EE4B4B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Risks &amp; Mitigations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CFE16-D769-0D40-81A8-C29F910ECE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700" b="1"/>
              <a:t>Risk 1: Revenue Concentration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Map Directions + Toones = 93% of total revenue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Any disruption to either app = catastrophic revenue impact</a:t>
            </a:r>
          </a:p>
          <a:p>
            <a:pPr marL="457200" indent="-228600">
              <a:buFont typeface="Arial"/>
              <a:buChar char="→"/>
            </a:pPr>
            <a:r>
              <a:rPr lang="en-US" sz="1500" i="1"/>
              <a:t>Mitigation: Diversify via 4 underperforming apps + bundle + marketplace</a:t>
            </a:r>
          </a:p>
          <a:p>
            <a:pPr>
              <a:buNone/>
            </a:pPr>
            <a:endParaRPr lang="en-US" sz="1400"/>
          </a:p>
          <a:p>
            <a:pPr>
              <a:buNone/>
            </a:pPr>
            <a:r>
              <a:rPr lang="en-US" sz="1700" b="1"/>
              <a:t>Risk 2: Tzynergism Partner Dependency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Tzynergism controls Toones + Unicorn Xplode + Speedper (3 of 6 apps)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~39% of total revenue flows through a single third-party partner</a:t>
            </a:r>
          </a:p>
          <a:p>
            <a:pPr marL="457200" indent="-228600">
              <a:buFont typeface="Arial"/>
              <a:buChar char="→"/>
            </a:pPr>
            <a:r>
              <a:rPr lang="en-US" sz="1500" i="1"/>
              <a:t>Mitigation: Negotiate exclusivity; evaluate Tzynergism acquisition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86A80-6B47-A9B7-BEA4-E0575A93C9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700" b="1"/>
              <a:t>Risk 3: Declining App Portfolio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NewNews: -50.7% YTD — every month declining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Unicorn Xplode: -32.1% with possible Dec service outage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Cat Scratchers: extreme month-to-month volatility</a:t>
            </a:r>
          </a:p>
          <a:p>
            <a:pPr marL="457200" indent="-228600">
              <a:buFont typeface="Arial"/>
              <a:buChar char="→"/>
            </a:pPr>
            <a:r>
              <a:rPr lang="en-US" sz="1500" i="1"/>
              <a:t>Mitigation: Rebuild or sunset NewNews; investigate Xplode outage; stabilize Cat Scratchers</a:t>
            </a:r>
          </a:p>
          <a:p>
            <a:pPr>
              <a:buNone/>
            </a:pPr>
            <a:endParaRPr lang="en-US" sz="1400"/>
          </a:p>
          <a:p>
            <a:pPr>
              <a:buNone/>
            </a:pPr>
            <a:r>
              <a:rPr lang="en-US" sz="1700" b="1"/>
              <a:t>Risk 4: Persistently Low Penetration (8.4%)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Fleet grew +65.6% but app adoption hasn't kept pace</a:t>
            </a:r>
          </a:p>
          <a:p>
            <a:pPr marL="228600" indent="-228600">
              <a:buFont typeface="Arial"/>
              <a:buChar char="•"/>
            </a:pPr>
            <a:r>
              <a:rPr lang="en-US" sz="1600"/>
              <a:t>New owners are not discovering or subscribing to apps</a:t>
            </a:r>
          </a:p>
          <a:p>
            <a:pPr marL="457200" indent="-228600">
              <a:buFont typeface="Arial"/>
              <a:buChar char="→"/>
            </a:pPr>
            <a:r>
              <a:rPr lang="en-US" sz="1500" i="1"/>
              <a:t>Mitigation: Onboarding pop-ups, referral programs, app discovery features</a:t>
            </a:r>
          </a:p>
        </p:txBody>
      </p:sp>
    </p:spTree>
    <p:extLst>
      <p:ext uri="{BB962C8B-B14F-4D97-AF65-F5344CB8AC3E}">
        <p14:creationId xmlns:p14="http://schemas.microsoft.com/office/powerpoint/2010/main" val="3385204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4A40-4312-9FCB-E925-3FF9083E9C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sz="6000" b="1"/>
              <a:t>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9091A-042A-FF2F-6CB8-A4D9B0C624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000" b="1" err="1"/>
              <a:t>PhantomSea</a:t>
            </a:r>
            <a:r>
              <a:rPr lang="en-US" sz="1000" b="1"/>
              <a:t> — Team 3 | Abyss GT</a:t>
            </a:r>
          </a:p>
          <a:p>
            <a:r>
              <a:rPr lang="en-US" sz="1000"/>
              <a:t>BSAN 760 — Digital Product Team</a:t>
            </a:r>
          </a:p>
          <a:p>
            <a:endParaRPr lang="en-US" sz="1600"/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60939944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83101A-3736-4C8E-83C9-9103719C8785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19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ChronicleVTI</vt:lpstr>
      <vt:lpstr>PhantomSea – Abyss gt Digital Revenue Strategy Team 3 — BSAN 760</vt:lpstr>
      <vt:lpstr>Executive Summary</vt:lpstr>
      <vt:lpstr>The Problem</vt:lpstr>
      <vt:lpstr>Digital Product  Team Guiding Strategy</vt:lpstr>
      <vt:lpstr>Time spent in the car Per day</vt:lpstr>
      <vt:lpstr>EV  Buyers</vt:lpstr>
      <vt:lpstr>Competitor Analysis</vt:lpstr>
      <vt:lpstr>Technology Stack  —  Plausible Tech Criterion (33% of Grade)</vt:lpstr>
      <vt:lpstr>PowerPoint Presentation</vt:lpstr>
      <vt:lpstr>Analytics Deep-Dive  —  Analytics Criterion (33% of Grade)</vt:lpstr>
      <vt:lpstr>Pricing Strategy — Data-Backed Recommendations</vt:lpstr>
      <vt:lpstr>Marketing Strategy</vt:lpstr>
      <vt:lpstr>Monetizing Car data</vt:lpstr>
      <vt:lpstr>Possibly useful graphic??</vt:lpstr>
      <vt:lpstr>Other notes on applications</vt:lpstr>
      <vt:lpstr>PowerPoint Presentation</vt:lpstr>
      <vt:lpstr>PowerPoint Presentation</vt:lpstr>
      <vt:lpstr>Risks &amp; Mitigations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2026-02-25T23:20:13Z</dcterms:created>
  <dcterms:modified xsi:type="dcterms:W3CDTF">2026-03-03T02:14:06Z</dcterms:modified>
</cp:coreProperties>
</file>